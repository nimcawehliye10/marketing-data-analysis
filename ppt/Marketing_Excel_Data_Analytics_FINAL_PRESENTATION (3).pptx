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460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MARKETING CAMPAIGN</a:t>
            </a:r>
            <a:br/>
            <a:r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23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AF7"/>
                </a:solidFill>
              </a:defRPr>
            </a:pPr>
            <a:r>
              <a:t>Practical Excel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Presented by: Nimca Wehliye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15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EAF7"/>
                </a:solidFill>
              </a:defRPr>
            </a:pPr>
            <a:r>
              <a:t>Course: Excel for Data Analysis  •  Microsoft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What the project is designed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Analyze marketing campaign performance using Excel.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Evaluate Budget, Leads and Conversions.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Compare performance by Channel, Region and Year.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Transform raw data into reliable business insights.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Support management decisions with findings and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03520"/>
            <a:ext cx="1097280" cy="59436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RAW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0512" y="5303520"/>
            <a:ext cx="1097280" cy="59436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10512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2384" y="5303520"/>
            <a:ext cx="1097280" cy="59436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72384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FORMULAS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5" y="5303520"/>
            <a:ext cx="1097280" cy="59436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4255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PIVOTS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96127" y="5303520"/>
            <a:ext cx="1097280" cy="59436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6127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CHARTS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7999" y="5303520"/>
            <a:ext cx="1097280" cy="59436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7999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KPIs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5303520"/>
            <a:ext cx="1097280" cy="59436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9871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SLICERS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1744" y="5303520"/>
            <a:ext cx="1097280" cy="594360"/>
          </a:xfrm>
          <a:prstGeom prst="round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81744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43615" y="5303520"/>
            <a:ext cx="1097280" cy="59436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43615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2. Dataset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Source: 20_Marketing sheet supplied in the course dataset workbook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23160" cy="1234440"/>
          </a:xfrm>
          <a:prstGeom prst="roundRect">
            <a:avLst/>
          </a:prstGeom>
          <a:solidFill>
            <a:srgbClr val="F3F6FA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7365D"/>
                </a:solidFill>
              </a:defRPr>
            </a:pPr>
            <a:r>
              <a:t>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Original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417320"/>
            <a:ext cx="2423160" cy="1234440"/>
          </a:xfrm>
          <a:prstGeom prst="roundRect">
            <a:avLst/>
          </a:prstGeom>
          <a:solidFill>
            <a:srgbClr val="F3F6FA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79" y="15727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7365D"/>
                </a:solidFill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Confirmed duplicates removed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17320"/>
            <a:ext cx="2423160" cy="1234440"/>
          </a:xfrm>
          <a:prstGeom prst="roundRect">
            <a:avLst/>
          </a:prstGeom>
          <a:solidFill>
            <a:srgbClr val="F3F6FA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799" y="15727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7365D"/>
                </a:solidFill>
              </a:defRPr>
            </a:pPr>
            <a:r>
              <a:t>293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Clean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17320"/>
            <a:ext cx="2423160" cy="1234440"/>
          </a:xfrm>
          <a:prstGeom prst="roundRect">
            <a:avLst/>
          </a:prstGeom>
          <a:solidFill>
            <a:srgbClr val="F3F6FA"/>
          </a:solidFill>
          <a:ln>
            <a:solidFill>
              <a:srgbClr val="D7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19" y="157276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7365D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2057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Original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</a:defRPr>
            </a:pPr>
            <a:r>
              <a:t>Important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F2937"/>
                </a:solidFill>
              </a:defRPr>
            </a:pPr>
            <a:r>
              <a:t>Campaign_ID • Start_Date • Channel • Region • Budget • Leads • Conversions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937"/>
                </a:solidFill>
              </a:defRPr>
            </a:pPr>
            <a:r>
              <a:t>Purpose: measure campaign efficiency and identify the channels/regions that generate stronger conversion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3. Data Preparation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Cleaning was completed before analysis to protect the accuracy of totals and PivotTables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Identified and removed 7 exact duplicate records.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Standardized text using TRIM and case normalization.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Filled missing categories with “Unknown” where appropriate.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Filled missing numeric values using the median.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Filled missing dates using the median date.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• Created derived fields: Year, Month, Conversion Rate and Cost metrics.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0" y="1371600"/>
            <a:ext cx="594360" cy="59436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52704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417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</a:defRPr>
            </a:pPr>
            <a:r>
              <a:t>1 — Inspect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2377440"/>
            <a:ext cx="594360" cy="59436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253288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</a:defRPr>
            </a:pPr>
            <a:r>
              <a:t>2 — Clean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3383280"/>
            <a:ext cx="594360" cy="59436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353872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</a:defRPr>
            </a:pPr>
            <a:r>
              <a:t>3 — Validate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4389120"/>
            <a:ext cx="594360" cy="59436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45445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434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</a:defRPr>
            </a:pPr>
            <a:r>
              <a:t>4 — Analyze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4. Excel Formula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The project demonstrates the required analytical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103120" cy="530352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447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9903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SUM • AVERAGE • COUNT • MIN • MAX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67128"/>
            <a:ext cx="2103120" cy="530352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Conditional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402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SUMIF • COUNTIF • AVERAGEIF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08376"/>
            <a:ext cx="2103120" cy="530352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127248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Logical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8152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IF • 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9624"/>
            <a:ext cx="2103120" cy="530352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968496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22776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TODAY • YEAR • MONTH • DAY • NETWORKDAYS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90872"/>
            <a:ext cx="2103120" cy="530352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809744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764024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TRIM • UPPER • PROPER • SUBSTITUTE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Example: SUMIF calculates the total Budget for a selected Channel; IF classifies campaign performance using a conversion-rate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5. PivotTables &amp; 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Summaries make hundreds of records easier to compare</a:t>
            </a:r>
          </a:p>
        </p:txBody>
      </p:sp>
      <p:pic>
        <p:nvPicPr>
          <p:cNvPr id="5" name="Picture 4" descr="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94960" cy="3000520"/>
          </a:xfrm>
          <a:prstGeom prst="rect">
            <a:avLst/>
          </a:prstGeom>
        </p:spPr>
      </p:pic>
      <p:pic>
        <p:nvPicPr>
          <p:cNvPr id="6" name="Picture 5" descr="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94960" cy="30047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PivotTable areas: Rows • Columns • Values • Filters. Charts are built from summarized results rather than raw rows.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6. 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Management can see the key numbers immediately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60320" cy="123444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$821,023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325880"/>
            <a:ext cx="2560320" cy="123444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79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134,724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2560320" cy="123444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CONVERSIONS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24,658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1325880"/>
            <a:ext cx="2560320" cy="123444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599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CONVERSION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9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18.3%</a:t>
            </a:r>
          </a:p>
        </p:txBody>
      </p:sp>
      <p:pic>
        <p:nvPicPr>
          <p:cNvPr id="17" name="Picture 16" descr="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71800"/>
            <a:ext cx="5303520" cy="2953859"/>
          </a:xfrm>
          <a:prstGeom prst="rect">
            <a:avLst/>
          </a:prstGeom>
        </p:spPr>
      </p:pic>
      <p:pic>
        <p:nvPicPr>
          <p:cNvPr id="18" name="Picture 17" descr="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71800"/>
            <a:ext cx="3697261" cy="3120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7.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Turning analysis into business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Search generated the highest conversion volume (8,434).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Radio had the lowest conversion rate (10.7%) among channels.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Bosaso recorded the strongest regional conversion rate (20.6%).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The cleaned dataset contains 293 valid records after removing duplicates.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Overall conversion rate is 18.3%.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258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Gradually increase investment in Search while monitoring cost efficiency.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Review Radio targeting, creative and conversion path.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• Replicate successful practices from Bosaso in other regions through controlled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AF7"/>
                </a:solidFill>
              </a:defRPr>
            </a:pPr>
            <a:r>
              <a:t>Raw Data → Clean Data → Formulas → PivotTables → Charts → KPIs → Slicers → Dashboards → Findings →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The project demonstrates that Excel is not only for data entry — it is a tool for analysis and informed business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EAF7"/>
                </a:solidFill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530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nimca updirahim</cp:lastModifiedBy>
  <cp:revision>3</cp:revision>
  <dcterms:created xsi:type="dcterms:W3CDTF">2013-01-27T09:14:16Z</dcterms:created>
  <dcterms:modified xsi:type="dcterms:W3CDTF">2026-08-25T13:45:10Z</dcterms:modified>
  <cp:category/>
</cp:coreProperties>
</file>